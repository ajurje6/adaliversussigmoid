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1498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1200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6416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4582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1824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69366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4995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49313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3729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0687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98107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2334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10728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11577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 sa slik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37987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16068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7520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8CA516-8B9E-4C40-9659-0ABF177D9B49}" type="datetimeFigureOut">
              <a:rPr lang="hr-HR" smtClean="0"/>
              <a:t>16.5.2026.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C13F54F-A558-4D30-A301-63E4346B541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554134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E60C43B-807A-48CD-9805-922746A89D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Adaptivne vs fiksne </a:t>
            </a:r>
            <a:r>
              <a:rPr lang="hr-HR" dirty="0" err="1">
                <a:solidFill>
                  <a:schemeClr val="tx1"/>
                </a:solidFill>
              </a:rPr>
              <a:t>surrogate</a:t>
            </a:r>
            <a:r>
              <a:rPr lang="hr-HR" dirty="0">
                <a:solidFill>
                  <a:schemeClr val="tx1"/>
                </a:solidFill>
              </a:rPr>
              <a:t> </a:t>
            </a:r>
            <a:r>
              <a:rPr lang="hr-HR" dirty="0" err="1">
                <a:solidFill>
                  <a:schemeClr val="tx1"/>
                </a:solidFill>
              </a:rPr>
              <a:t>gradient</a:t>
            </a:r>
            <a:r>
              <a:rPr lang="hr-HR" dirty="0">
                <a:solidFill>
                  <a:schemeClr val="tx1"/>
                </a:solidFill>
              </a:rPr>
              <a:t> metode u SNN-ovima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607DAF8-08A4-407C-B035-FF84F552F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893270"/>
            <a:ext cx="9440034" cy="2347274"/>
          </a:xfrm>
        </p:spPr>
        <p:txBody>
          <a:bodyPr>
            <a:normAutofit/>
          </a:bodyPr>
          <a:lstStyle/>
          <a:p>
            <a:r>
              <a:rPr lang="hr-HR" sz="2400" dirty="0"/>
              <a:t>Usporedba </a:t>
            </a:r>
            <a:r>
              <a:rPr lang="hr-HR" sz="2400" dirty="0" err="1"/>
              <a:t>Adali</a:t>
            </a:r>
            <a:r>
              <a:rPr lang="hr-HR" sz="2400" dirty="0"/>
              <a:t> i </a:t>
            </a:r>
            <a:r>
              <a:rPr lang="hr-HR" sz="2400" dirty="0" err="1"/>
              <a:t>Sigmoid</a:t>
            </a:r>
            <a:r>
              <a:rPr lang="hr-HR" sz="2400" dirty="0"/>
              <a:t> </a:t>
            </a:r>
            <a:r>
              <a:rPr lang="hr-HR" sz="2400" dirty="0" err="1"/>
              <a:t>gradient</a:t>
            </a:r>
            <a:r>
              <a:rPr lang="hr-HR" sz="2400" dirty="0"/>
              <a:t> metoda</a:t>
            </a:r>
          </a:p>
          <a:p>
            <a:endParaRPr lang="hr-HR" sz="2400" dirty="0"/>
          </a:p>
          <a:p>
            <a:r>
              <a:rPr lang="hr-HR" sz="2400" dirty="0"/>
              <a:t>Antonio Jurjević</a:t>
            </a:r>
          </a:p>
          <a:p>
            <a:r>
              <a:rPr lang="hr-HR" sz="2400" dirty="0"/>
              <a:t>Projekt prve godine/Strojno učenje – trendovi i teme</a:t>
            </a:r>
          </a:p>
          <a:p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701257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1A60D3B-3862-4643-A392-83F9E07A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Tema i područje istraživanja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5BECCAB-96C8-4297-BC74-D07D9B5E6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119" y="1963131"/>
            <a:ext cx="6171414" cy="4381108"/>
          </a:xfrm>
        </p:spPr>
        <p:txBody>
          <a:bodyPr/>
          <a:lstStyle/>
          <a:p>
            <a:r>
              <a:rPr lang="hr-HR" sz="2400" dirty="0" err="1"/>
              <a:t>Spiking</a:t>
            </a:r>
            <a:r>
              <a:rPr lang="hr-HR" sz="2400" dirty="0"/>
              <a:t> neuronske mreže – biološki inspiriran model neuronskih mreža</a:t>
            </a:r>
          </a:p>
          <a:p>
            <a:r>
              <a:rPr lang="hr-HR" sz="2400" dirty="0"/>
              <a:t>Energetski učinkovitije</a:t>
            </a:r>
          </a:p>
          <a:p>
            <a:r>
              <a:rPr lang="hr-HR" sz="2400" dirty="0"/>
              <a:t>Kako izbor metode utječe na učenje, konvergenciju i performanse modela</a:t>
            </a:r>
          </a:p>
          <a:p>
            <a:endParaRPr lang="hr-HR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C752472D-9D15-437C-B8F9-0F08BF11C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27" y="1963131"/>
            <a:ext cx="5646655" cy="324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6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A6BE3E-9C21-4551-90A2-42E89F22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Problem istraživanja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672EBAE-2B44-4F9A-A973-49E043195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 dirty="0">
                <a:solidFill>
                  <a:schemeClr val="tx1"/>
                </a:solidFill>
              </a:rPr>
              <a:t>Treniranje </a:t>
            </a:r>
            <a:r>
              <a:rPr lang="hr-HR" sz="2400" dirty="0" err="1">
                <a:solidFill>
                  <a:schemeClr val="tx1"/>
                </a:solidFill>
              </a:rPr>
              <a:t>spiking</a:t>
            </a:r>
            <a:r>
              <a:rPr lang="hr-HR" sz="2400" dirty="0">
                <a:solidFill>
                  <a:schemeClr val="tx1"/>
                </a:solidFill>
              </a:rPr>
              <a:t> neuronskih mreža ovisi o </a:t>
            </a:r>
            <a:r>
              <a:rPr lang="hr-HR" sz="2400" dirty="0" err="1">
                <a:solidFill>
                  <a:schemeClr val="tx1"/>
                </a:solidFill>
              </a:rPr>
              <a:t>surrogate</a:t>
            </a:r>
            <a:r>
              <a:rPr lang="hr-HR" sz="2400" dirty="0">
                <a:solidFill>
                  <a:schemeClr val="tx1"/>
                </a:solidFill>
              </a:rPr>
              <a:t> </a:t>
            </a:r>
            <a:r>
              <a:rPr lang="hr-HR" sz="2400" dirty="0" err="1">
                <a:solidFill>
                  <a:schemeClr val="tx1"/>
                </a:solidFill>
              </a:rPr>
              <a:t>gradient</a:t>
            </a:r>
            <a:r>
              <a:rPr lang="hr-HR" sz="2400" dirty="0">
                <a:solidFill>
                  <a:schemeClr val="tx1"/>
                </a:solidFill>
              </a:rPr>
              <a:t> metodama jer </a:t>
            </a:r>
            <a:r>
              <a:rPr lang="hr-HR" sz="2400" dirty="0" err="1">
                <a:solidFill>
                  <a:schemeClr val="tx1"/>
                </a:solidFill>
              </a:rPr>
              <a:t>spike</a:t>
            </a:r>
            <a:r>
              <a:rPr lang="hr-HR" sz="2400" dirty="0">
                <a:solidFill>
                  <a:schemeClr val="tx1"/>
                </a:solidFill>
              </a:rPr>
              <a:t> funkcija nije </a:t>
            </a:r>
            <a:r>
              <a:rPr lang="hr-HR" sz="2400" dirty="0" err="1">
                <a:solidFill>
                  <a:schemeClr val="tx1"/>
                </a:solidFill>
              </a:rPr>
              <a:t>diferencijabilna</a:t>
            </a:r>
            <a:r>
              <a:rPr lang="hr-HR" sz="2400" dirty="0">
                <a:solidFill>
                  <a:schemeClr val="tx1"/>
                </a:solidFill>
              </a:rPr>
              <a:t>. Međutim: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hr-H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Fiksne metode </a:t>
            </a:r>
            <a:r>
              <a:rPr lang="hr-HR" sz="2400" dirty="0">
                <a:solidFill>
                  <a:schemeClr val="tx1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koriste konstantne parametre → često nisu optimalne za različite faze učenja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hr-H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Adaptivne metode </a:t>
            </a:r>
            <a:r>
              <a:rPr lang="hr-HR" sz="2400" dirty="0">
                <a:solidFill>
                  <a:schemeClr val="tx1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mijenjaju parametre tijekom treniranja → ali njihova stvarna prednost nije jasno dokazana</a:t>
            </a:r>
          </a:p>
        </p:txBody>
      </p:sp>
    </p:spTree>
    <p:extLst>
      <p:ext uri="{BB962C8B-B14F-4D97-AF65-F5344CB8AC3E}">
        <p14:creationId xmlns:p14="http://schemas.microsoft.com/office/powerpoint/2010/main" val="301465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3C27285-2343-41C2-9FA5-4F64A517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Istraživačka pitanja i ciljevi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A8B49A9-6287-4D0A-9041-52898FBAC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670" y="1732449"/>
            <a:ext cx="11783505" cy="4951155"/>
          </a:xfrm>
        </p:spPr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hr-HR" sz="2400" dirty="0">
                <a:solidFill>
                  <a:schemeClr val="tx1"/>
                </a:solidFill>
              </a:rPr>
              <a:t>Postiže li adaptivna </a:t>
            </a:r>
            <a:r>
              <a:rPr lang="hr-HR" sz="2400" dirty="0" err="1">
                <a:solidFill>
                  <a:schemeClr val="tx1"/>
                </a:solidFill>
              </a:rPr>
              <a:t>surrogate</a:t>
            </a:r>
            <a:r>
              <a:rPr lang="hr-HR" sz="2400" dirty="0">
                <a:solidFill>
                  <a:schemeClr val="tx1"/>
                </a:solidFill>
              </a:rPr>
              <a:t> </a:t>
            </a:r>
            <a:r>
              <a:rPr lang="hr-HR" sz="2400" dirty="0" err="1">
                <a:solidFill>
                  <a:schemeClr val="tx1"/>
                </a:solidFill>
              </a:rPr>
              <a:t>gradient</a:t>
            </a:r>
            <a:r>
              <a:rPr lang="hr-HR" sz="2400" dirty="0">
                <a:solidFill>
                  <a:schemeClr val="tx1"/>
                </a:solidFill>
              </a:rPr>
              <a:t> metoda bolje performanse od fiksne?</a:t>
            </a:r>
          </a:p>
          <a:p>
            <a:pPr marL="494100" indent="-457200">
              <a:buFont typeface="+mj-lt"/>
              <a:buAutoNum type="arabicPeriod"/>
            </a:pPr>
            <a:r>
              <a:rPr lang="hr-HR" sz="2400" dirty="0">
                <a:solidFill>
                  <a:schemeClr val="tx1"/>
                </a:solidFill>
              </a:rPr>
              <a:t>Kako adaptivnost utječe na stabilnost i brzinu konvergencije?</a:t>
            </a:r>
          </a:p>
          <a:p>
            <a:pPr marL="494100" indent="-457200">
              <a:buFont typeface="+mj-lt"/>
              <a:buAutoNum type="arabicPeriod"/>
            </a:pPr>
            <a:r>
              <a:rPr lang="pl-PL" sz="2400" dirty="0">
                <a:solidFill>
                  <a:schemeClr val="tx1"/>
                </a:solidFill>
              </a:rPr>
              <a:t>U kojim uvjetima (dataset, parametri) jedna metoda ima prednost?</a:t>
            </a:r>
          </a:p>
          <a:p>
            <a:pPr marL="36900" indent="0">
              <a:buNone/>
            </a:pPr>
            <a:r>
              <a:rPr lang="pl-PL" sz="2400" dirty="0">
                <a:solidFill>
                  <a:schemeClr val="tx1"/>
                </a:solidFill>
              </a:rPr>
              <a:t>Ciljevi: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sz="2200" dirty="0">
                <a:solidFill>
                  <a:schemeClr val="tx1"/>
                </a:solidFill>
              </a:rPr>
              <a:t>Implementirati obje metode (</a:t>
            </a:r>
            <a:r>
              <a:rPr lang="hr-HR" sz="2200" dirty="0" err="1">
                <a:solidFill>
                  <a:schemeClr val="tx1"/>
                </a:solidFill>
              </a:rPr>
              <a:t>fixed</a:t>
            </a:r>
            <a:r>
              <a:rPr lang="hr-HR" sz="2200" dirty="0">
                <a:solidFill>
                  <a:schemeClr val="tx1"/>
                </a:solidFill>
              </a:rPr>
              <a:t> i </a:t>
            </a:r>
            <a:r>
              <a:rPr lang="hr-HR" sz="2200" dirty="0" err="1">
                <a:solidFill>
                  <a:schemeClr val="tx1"/>
                </a:solidFill>
              </a:rPr>
              <a:t>adaptive</a:t>
            </a:r>
            <a:r>
              <a:rPr lang="hr-HR" sz="2200" dirty="0">
                <a:solidFill>
                  <a:schemeClr val="tx1"/>
                </a:solidFill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sz="2200" dirty="0">
                <a:solidFill>
                  <a:schemeClr val="tx1"/>
                </a:solidFill>
              </a:rPr>
              <a:t>Eksperimentalno ih usporediti na istim uvjetima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r-HR" sz="2200" dirty="0">
                <a:solidFill>
                  <a:schemeClr val="tx1"/>
                </a:solidFill>
              </a:rPr>
              <a:t>Vizualizirat rezultate</a:t>
            </a:r>
          </a:p>
        </p:txBody>
      </p:sp>
    </p:spTree>
    <p:extLst>
      <p:ext uri="{BB962C8B-B14F-4D97-AF65-F5344CB8AC3E}">
        <p14:creationId xmlns:p14="http://schemas.microsoft.com/office/powerpoint/2010/main" val="1319908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F11558-F1FC-4683-AA23-2036B20F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Podaci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680CE4A-6BE4-46D5-AD8B-797BF12B9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400" dirty="0">
                <a:solidFill>
                  <a:schemeClr val="tx1"/>
                </a:solidFill>
              </a:rPr>
              <a:t>MNIST - </a:t>
            </a:r>
            <a:r>
              <a:rPr lang="pl-PL" sz="2400" dirty="0">
                <a:solidFill>
                  <a:schemeClr val="tx1"/>
                </a:solidFill>
              </a:rPr>
              <a:t>skup ručno pisanih znamenki (28×28, grayscale, 10 klasa)</a:t>
            </a:r>
          </a:p>
          <a:p>
            <a:r>
              <a:rPr lang="pl-PL" sz="2400" dirty="0">
                <a:solidFill>
                  <a:schemeClr val="tx1"/>
                </a:solidFill>
              </a:rPr>
              <a:t>CIFAR10 - </a:t>
            </a:r>
            <a:r>
              <a:rPr lang="hr-HR" sz="2400" dirty="0">
                <a:solidFill>
                  <a:schemeClr val="tx1"/>
                </a:solidFill>
              </a:rPr>
              <a:t>slike objekata (32×32, RGB, 10 klasa)</a:t>
            </a:r>
          </a:p>
          <a:p>
            <a:r>
              <a:rPr lang="hr-HR" sz="2400" dirty="0">
                <a:solidFill>
                  <a:schemeClr val="tx1"/>
                </a:solidFill>
              </a:rPr>
              <a:t>CIFAR100 - </a:t>
            </a:r>
            <a:r>
              <a:rPr lang="pl-PL" sz="2400" dirty="0">
                <a:solidFill>
                  <a:schemeClr val="tx1"/>
                </a:solidFill>
              </a:rPr>
              <a:t>kompleksniji skup (32×32, RGB, 100 klasa)</a:t>
            </a:r>
          </a:p>
          <a:p>
            <a:r>
              <a:rPr lang="pl-PL" sz="2400" dirty="0">
                <a:solidFill>
                  <a:schemeClr val="tx1"/>
                </a:solidFill>
              </a:rPr>
              <a:t>Potencijalno </a:t>
            </a:r>
            <a:r>
              <a:rPr lang="hr-HR" sz="2400" dirty="0" err="1">
                <a:solidFill>
                  <a:schemeClr val="tx1"/>
                </a:solidFill>
              </a:rPr>
              <a:t>neuromorphic</a:t>
            </a:r>
            <a:r>
              <a:rPr lang="hr-HR" sz="2400" dirty="0">
                <a:solidFill>
                  <a:schemeClr val="tx1"/>
                </a:solidFill>
              </a:rPr>
              <a:t> </a:t>
            </a:r>
            <a:r>
              <a:rPr lang="hr-HR" sz="2400" dirty="0" err="1">
                <a:solidFill>
                  <a:schemeClr val="tx1"/>
                </a:solidFill>
              </a:rPr>
              <a:t>dataseti</a:t>
            </a:r>
            <a:r>
              <a:rPr lang="hr-HR" sz="2400" dirty="0">
                <a:solidFill>
                  <a:schemeClr val="tx1"/>
                </a:solidFill>
              </a:rPr>
              <a:t> – dizajnirani za SNN-ove</a:t>
            </a:r>
          </a:p>
        </p:txBody>
      </p:sp>
    </p:spTree>
    <p:extLst>
      <p:ext uri="{BB962C8B-B14F-4D97-AF65-F5344CB8AC3E}">
        <p14:creationId xmlns:p14="http://schemas.microsoft.com/office/powerpoint/2010/main" val="2944068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224E43F-09D2-4A64-AEEB-07DF20CC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Pregled literature(PRISMA)</a:t>
            </a:r>
          </a:p>
        </p:txBody>
      </p:sp>
      <p:pic>
        <p:nvPicPr>
          <p:cNvPr id="7" name="Rezervirano mjesto sadržaja 6">
            <a:extLst>
              <a:ext uri="{FF2B5EF4-FFF2-40B4-BE49-F238E27FC236}">
                <a16:creationId xmlns:a16="http://schemas.microsoft.com/office/drawing/2014/main" id="{E7F28D34-854B-43EC-A9B6-B86678390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577" y="1580050"/>
            <a:ext cx="4379177" cy="4903787"/>
          </a:xfr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E8D02ABA-1887-4130-882C-4B1FC38CB842}"/>
              </a:ext>
            </a:extLst>
          </p:cNvPr>
          <p:cNvSpPr txBox="1"/>
          <p:nvPr/>
        </p:nvSpPr>
        <p:spPr>
          <a:xfrm>
            <a:off x="395926" y="1809946"/>
            <a:ext cx="705124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dirty="0"/>
              <a:t>Dosadašnji radovi: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Korištene su </a:t>
            </a:r>
            <a:r>
              <a:rPr lang="hr-HR" sz="2000" dirty="0" err="1"/>
              <a:t>fixed</a:t>
            </a:r>
            <a:r>
              <a:rPr lang="hr-HR" sz="2000" dirty="0"/>
              <a:t> i </a:t>
            </a:r>
            <a:r>
              <a:rPr lang="hr-HR" sz="2000" dirty="0" err="1"/>
              <a:t>adaptive</a:t>
            </a:r>
            <a:r>
              <a:rPr lang="hr-HR" sz="2000" dirty="0"/>
              <a:t> </a:t>
            </a:r>
            <a:r>
              <a:rPr lang="hr-HR" sz="2000" dirty="0" err="1"/>
              <a:t>surrogate</a:t>
            </a:r>
            <a:r>
              <a:rPr lang="hr-HR" sz="2000" dirty="0"/>
              <a:t> </a:t>
            </a:r>
            <a:r>
              <a:rPr lang="hr-HR" sz="2000" dirty="0" err="1"/>
              <a:t>gradient</a:t>
            </a:r>
            <a:r>
              <a:rPr lang="hr-HR" sz="2000" dirty="0"/>
              <a:t> metode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Najčešće </a:t>
            </a:r>
            <a:r>
              <a:rPr lang="hr-HR" sz="2000" dirty="0" err="1"/>
              <a:t>surrogate</a:t>
            </a:r>
            <a:r>
              <a:rPr lang="hr-HR" sz="2000" dirty="0"/>
              <a:t> funkcije: </a:t>
            </a:r>
            <a:r>
              <a:rPr lang="hr-HR" sz="2000" dirty="0" err="1"/>
              <a:t>sigmoid</a:t>
            </a:r>
            <a:r>
              <a:rPr lang="hr-HR" sz="2000" dirty="0"/>
              <a:t>, </a:t>
            </a:r>
            <a:r>
              <a:rPr lang="hr-HR" sz="2000" dirty="0" err="1"/>
              <a:t>exponential</a:t>
            </a:r>
            <a:r>
              <a:rPr lang="hr-HR" sz="2000" dirty="0"/>
              <a:t>, </a:t>
            </a:r>
            <a:r>
              <a:rPr lang="hr-HR" sz="2000" dirty="0" err="1"/>
              <a:t>piecewise</a:t>
            </a:r>
            <a:r>
              <a:rPr lang="hr-HR" sz="2000" dirty="0"/>
              <a:t> </a:t>
            </a:r>
            <a:r>
              <a:rPr lang="hr-HR" sz="2000" dirty="0" err="1"/>
              <a:t>linear</a:t>
            </a:r>
            <a:endParaRPr lang="hr-HR" sz="2000" dirty="0"/>
          </a:p>
          <a:p>
            <a:r>
              <a:rPr lang="hr-HR" sz="2400" dirty="0"/>
              <a:t>Dosadašnji rezultati: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err="1"/>
              <a:t>Surrogate</a:t>
            </a:r>
            <a:r>
              <a:rPr lang="hr-HR" sz="2000" dirty="0"/>
              <a:t> </a:t>
            </a:r>
            <a:r>
              <a:rPr lang="hr-HR" sz="2000" dirty="0" err="1"/>
              <a:t>gradient</a:t>
            </a:r>
            <a:r>
              <a:rPr lang="hr-HR" sz="2000" dirty="0"/>
              <a:t> omogućuje učinkovito treniranje SNN modela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 err="1"/>
              <a:t>Adaptive</a:t>
            </a:r>
            <a:r>
              <a:rPr lang="hr-HR" sz="2000" dirty="0"/>
              <a:t> pristupi često poboljšavaju stabilnost i konvergenciju</a:t>
            </a:r>
          </a:p>
          <a:p>
            <a:r>
              <a:rPr lang="hr-HR" sz="2400" dirty="0"/>
              <a:t>Nedostatci: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Nema standardne najbolje surrogate funkcije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Malo direktnih usporedbi </a:t>
            </a:r>
            <a:r>
              <a:rPr lang="hr-HR" sz="2000" dirty="0" err="1"/>
              <a:t>adaptive</a:t>
            </a:r>
            <a:r>
              <a:rPr lang="hr-HR" sz="2000" dirty="0"/>
              <a:t> i </a:t>
            </a:r>
            <a:r>
              <a:rPr lang="hr-HR" sz="2000" dirty="0" err="1"/>
              <a:t>fixed</a:t>
            </a:r>
            <a:r>
              <a:rPr lang="hr-HR" sz="2000" dirty="0"/>
              <a:t> pristupa</a:t>
            </a:r>
          </a:p>
        </p:txBody>
      </p:sp>
    </p:spTree>
    <p:extLst>
      <p:ext uri="{BB962C8B-B14F-4D97-AF65-F5344CB8AC3E}">
        <p14:creationId xmlns:p14="http://schemas.microsoft.com/office/powerpoint/2010/main" val="1210085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2640E91-8DF5-4581-B888-3E5D8CFD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Metodologija i odabir modela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9303232-5B08-4A1C-9AE0-57633BA8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86" y="1732449"/>
            <a:ext cx="11594968" cy="4866314"/>
          </a:xfrm>
        </p:spPr>
        <p:txBody>
          <a:bodyPr>
            <a:normAutofit fontScale="92500" lnSpcReduction="10000"/>
          </a:bodyPr>
          <a:lstStyle/>
          <a:p>
            <a:r>
              <a:rPr lang="hr-HR" sz="2200" dirty="0">
                <a:solidFill>
                  <a:schemeClr val="tx1"/>
                </a:solidFill>
              </a:rPr>
              <a:t>Odabrani modeli:</a:t>
            </a:r>
          </a:p>
          <a:p>
            <a:pPr lvl="1"/>
            <a:r>
              <a:rPr lang="hr-HR" sz="1700" dirty="0" err="1">
                <a:solidFill>
                  <a:schemeClr val="tx1"/>
                </a:solidFill>
              </a:rPr>
              <a:t>Spiking</a:t>
            </a:r>
            <a:r>
              <a:rPr lang="hr-HR" sz="1700" dirty="0">
                <a:solidFill>
                  <a:schemeClr val="tx1"/>
                </a:solidFill>
              </a:rPr>
              <a:t> </a:t>
            </a:r>
            <a:r>
              <a:rPr lang="hr-HR" sz="1700" dirty="0" err="1">
                <a:solidFill>
                  <a:schemeClr val="tx1"/>
                </a:solidFill>
              </a:rPr>
              <a:t>neural</a:t>
            </a:r>
            <a:r>
              <a:rPr lang="hr-HR" sz="1700" dirty="0">
                <a:solidFill>
                  <a:schemeClr val="tx1"/>
                </a:solidFill>
              </a:rPr>
              <a:t> </a:t>
            </a:r>
            <a:r>
              <a:rPr lang="hr-HR" sz="1700" dirty="0" err="1">
                <a:solidFill>
                  <a:schemeClr val="tx1"/>
                </a:solidFill>
              </a:rPr>
              <a:t>networks</a:t>
            </a:r>
            <a:r>
              <a:rPr lang="hr-HR" sz="1700" dirty="0">
                <a:solidFill>
                  <a:schemeClr val="tx1"/>
                </a:solidFill>
              </a:rPr>
              <a:t> – dvije arhitekture(</a:t>
            </a:r>
            <a:r>
              <a:rPr lang="hr-HR" sz="1700" dirty="0" err="1">
                <a:solidFill>
                  <a:schemeClr val="tx1"/>
                </a:solidFill>
              </a:rPr>
              <a:t>SpikingSimpleCNN</a:t>
            </a:r>
            <a:r>
              <a:rPr lang="hr-HR" sz="1700" dirty="0">
                <a:solidFill>
                  <a:schemeClr val="tx1"/>
                </a:solidFill>
              </a:rPr>
              <a:t> i </a:t>
            </a:r>
            <a:r>
              <a:rPr lang="hr-HR" sz="1700" dirty="0" err="1">
                <a:solidFill>
                  <a:schemeClr val="tx1"/>
                </a:solidFill>
              </a:rPr>
              <a:t>SmallResNet</a:t>
            </a:r>
            <a:r>
              <a:rPr lang="hr-HR" sz="1700" dirty="0">
                <a:solidFill>
                  <a:schemeClr val="tx1"/>
                </a:solidFill>
              </a:rPr>
              <a:t>)</a:t>
            </a:r>
            <a:r>
              <a:rPr lang="hr-HR" dirty="0">
                <a:solidFill>
                  <a:schemeClr val="tx1"/>
                </a:solidFill>
              </a:rPr>
              <a:t>	</a:t>
            </a:r>
          </a:p>
          <a:p>
            <a:r>
              <a:rPr lang="hr-HR" dirty="0" err="1">
                <a:solidFill>
                  <a:schemeClr val="tx1"/>
                </a:solidFill>
              </a:rPr>
              <a:t>Surrogate</a:t>
            </a:r>
            <a:r>
              <a:rPr lang="hr-HR" dirty="0">
                <a:solidFill>
                  <a:schemeClr val="tx1"/>
                </a:solidFill>
              </a:rPr>
              <a:t> </a:t>
            </a:r>
            <a:r>
              <a:rPr lang="hr-HR" dirty="0" err="1">
                <a:solidFill>
                  <a:schemeClr val="tx1"/>
                </a:solidFill>
              </a:rPr>
              <a:t>gradient</a:t>
            </a:r>
            <a:r>
              <a:rPr lang="hr-HR" dirty="0">
                <a:solidFill>
                  <a:schemeClr val="tx1"/>
                </a:solidFill>
              </a:rPr>
              <a:t> metode:</a:t>
            </a:r>
          </a:p>
          <a:p>
            <a:pPr lvl="1"/>
            <a:r>
              <a:rPr lang="hr-HR" sz="1700" dirty="0" err="1">
                <a:solidFill>
                  <a:schemeClr val="tx1"/>
                </a:solidFill>
              </a:rPr>
              <a:t>AdaLi</a:t>
            </a:r>
            <a:endParaRPr lang="hr-HR" sz="1700" dirty="0">
              <a:solidFill>
                <a:schemeClr val="tx1"/>
              </a:solidFill>
            </a:endParaRPr>
          </a:p>
          <a:p>
            <a:pPr lvl="1"/>
            <a:r>
              <a:rPr lang="hr-HR" sz="1700" dirty="0" err="1">
                <a:solidFill>
                  <a:schemeClr val="tx1"/>
                </a:solidFill>
              </a:rPr>
              <a:t>Sigmoid</a:t>
            </a:r>
            <a:endParaRPr lang="hr-HR" sz="1700" dirty="0">
              <a:solidFill>
                <a:schemeClr val="tx1"/>
              </a:solidFill>
            </a:endParaRPr>
          </a:p>
          <a:p>
            <a:r>
              <a:rPr lang="hr-HR" dirty="0">
                <a:solidFill>
                  <a:schemeClr val="tx1"/>
                </a:solidFill>
              </a:rPr>
              <a:t>Strategije evaluacije:</a:t>
            </a:r>
          </a:p>
          <a:p>
            <a:pPr lvl="1"/>
            <a:r>
              <a:rPr lang="hr-HR" sz="1700" dirty="0">
                <a:solidFill>
                  <a:schemeClr val="tx1"/>
                </a:solidFill>
              </a:rPr>
              <a:t>Više </a:t>
            </a:r>
            <a:r>
              <a:rPr lang="hr-HR" sz="1700" dirty="0" err="1">
                <a:solidFill>
                  <a:schemeClr val="tx1"/>
                </a:solidFill>
              </a:rPr>
              <a:t>seedova</a:t>
            </a:r>
            <a:r>
              <a:rPr lang="hr-HR" sz="1700" dirty="0">
                <a:solidFill>
                  <a:schemeClr val="tx1"/>
                </a:solidFill>
              </a:rPr>
              <a:t> za stabilniju usporedbu</a:t>
            </a:r>
          </a:p>
          <a:p>
            <a:pPr lvl="1"/>
            <a:r>
              <a:rPr lang="hr-HR" sz="1700" dirty="0">
                <a:solidFill>
                  <a:schemeClr val="tx1"/>
                </a:solidFill>
              </a:rPr>
              <a:t>Jednaki uvjeti treniranja za sve </a:t>
            </a:r>
          </a:p>
          <a:p>
            <a:r>
              <a:rPr lang="hr-HR" sz="2200" dirty="0">
                <a:solidFill>
                  <a:schemeClr val="tx1"/>
                </a:solidFill>
              </a:rPr>
              <a:t>Metrike evaluacije:</a:t>
            </a:r>
          </a:p>
          <a:p>
            <a:pPr lvl="1"/>
            <a:r>
              <a:rPr lang="hr-HR" sz="1700" dirty="0" err="1">
                <a:solidFill>
                  <a:schemeClr val="tx1"/>
                </a:solidFill>
              </a:rPr>
              <a:t>Accuracy</a:t>
            </a:r>
            <a:endParaRPr lang="hr-HR" sz="1700" dirty="0">
              <a:solidFill>
                <a:schemeClr val="tx1"/>
              </a:solidFill>
            </a:endParaRPr>
          </a:p>
          <a:p>
            <a:pPr lvl="1"/>
            <a:r>
              <a:rPr lang="hr-HR" sz="1700" dirty="0" err="1">
                <a:solidFill>
                  <a:schemeClr val="tx1"/>
                </a:solidFill>
              </a:rPr>
              <a:t>Loss</a:t>
            </a:r>
            <a:endParaRPr lang="hr-HR" sz="1700" dirty="0">
              <a:solidFill>
                <a:schemeClr val="tx1"/>
              </a:solidFill>
            </a:endParaRPr>
          </a:p>
          <a:p>
            <a:pPr lvl="1"/>
            <a:r>
              <a:rPr lang="hr-HR" sz="1700" dirty="0">
                <a:solidFill>
                  <a:schemeClr val="tx1"/>
                </a:solidFill>
              </a:rPr>
              <a:t>Stabilnost konvergencije</a:t>
            </a:r>
          </a:p>
          <a:p>
            <a:pPr lvl="1"/>
            <a:r>
              <a:rPr lang="hr-HR" sz="1700" dirty="0">
                <a:solidFill>
                  <a:schemeClr val="tx1"/>
                </a:solidFill>
              </a:rPr>
              <a:t>Vrijeme treniranja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5798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AD33066-0C82-4227-BCDF-864CDCB0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Dosadašnji napredak i preliminarni rezultati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C2DBBA8-EC39-4920-B12C-F4A707F27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02" y="1732449"/>
            <a:ext cx="11764652" cy="4668351"/>
          </a:xfrm>
        </p:spPr>
        <p:txBody>
          <a:bodyPr>
            <a:normAutofit/>
          </a:bodyPr>
          <a:lstStyle/>
          <a:p>
            <a:r>
              <a:rPr lang="hr-HR" sz="2400" dirty="0">
                <a:solidFill>
                  <a:schemeClr val="tx1"/>
                </a:solidFill>
              </a:rPr>
              <a:t>Implementirane </a:t>
            </a:r>
            <a:r>
              <a:rPr lang="hr-HR" sz="2400" dirty="0" err="1">
                <a:solidFill>
                  <a:schemeClr val="tx1"/>
                </a:solidFill>
              </a:rPr>
              <a:t>obe</a:t>
            </a:r>
            <a:r>
              <a:rPr lang="hr-HR" sz="2400" dirty="0">
                <a:solidFill>
                  <a:schemeClr val="tx1"/>
                </a:solidFill>
              </a:rPr>
              <a:t> SNN arhitekture i </a:t>
            </a:r>
            <a:r>
              <a:rPr lang="hr-HR" sz="2400" dirty="0" err="1">
                <a:solidFill>
                  <a:schemeClr val="tx1"/>
                </a:solidFill>
              </a:rPr>
              <a:t>surrogate</a:t>
            </a:r>
            <a:r>
              <a:rPr lang="hr-HR" sz="2400" dirty="0">
                <a:solidFill>
                  <a:schemeClr val="tx1"/>
                </a:solidFill>
              </a:rPr>
              <a:t> </a:t>
            </a:r>
            <a:r>
              <a:rPr lang="hr-HR" sz="2400" dirty="0" err="1">
                <a:solidFill>
                  <a:schemeClr val="tx1"/>
                </a:solidFill>
              </a:rPr>
              <a:t>gradient</a:t>
            </a:r>
            <a:r>
              <a:rPr lang="hr-HR" sz="2400" dirty="0">
                <a:solidFill>
                  <a:schemeClr val="tx1"/>
                </a:solidFill>
              </a:rPr>
              <a:t> metode</a:t>
            </a:r>
          </a:p>
          <a:p>
            <a:r>
              <a:rPr lang="hr-HR" sz="2400" dirty="0">
                <a:solidFill>
                  <a:schemeClr val="tx1"/>
                </a:solidFill>
              </a:rPr>
              <a:t>Provedeni eksperimenti na MNIST, CIFAR10 i CIFAR100</a:t>
            </a:r>
          </a:p>
          <a:p>
            <a:r>
              <a:rPr lang="hr-HR" sz="2400" dirty="0">
                <a:solidFill>
                  <a:schemeClr val="tx1"/>
                </a:solidFill>
              </a:rPr>
              <a:t>Rezultati:</a:t>
            </a:r>
          </a:p>
          <a:p>
            <a:pPr lvl="1"/>
            <a:r>
              <a:rPr lang="hr-HR" sz="2000" dirty="0" err="1">
                <a:solidFill>
                  <a:schemeClr val="tx1"/>
                </a:solidFill>
              </a:rPr>
              <a:t>AdaLi</a:t>
            </a:r>
            <a:r>
              <a:rPr lang="hr-HR" sz="2000" dirty="0">
                <a:solidFill>
                  <a:schemeClr val="tx1"/>
                </a:solidFill>
              </a:rPr>
              <a:t> postiže bolje rezultate na većini eksperimenata</a:t>
            </a:r>
          </a:p>
          <a:p>
            <a:pPr lvl="1"/>
            <a:r>
              <a:rPr lang="hr-HR" sz="2000" dirty="0">
                <a:solidFill>
                  <a:schemeClr val="tx1"/>
                </a:solidFill>
              </a:rPr>
              <a:t>Veća razlika na složenijim </a:t>
            </a:r>
            <a:r>
              <a:rPr lang="hr-HR" sz="2000" dirty="0" err="1">
                <a:solidFill>
                  <a:schemeClr val="tx1"/>
                </a:solidFill>
              </a:rPr>
              <a:t>datasetima</a:t>
            </a:r>
            <a:endParaRPr lang="hr-HR" sz="2000" dirty="0">
              <a:solidFill>
                <a:schemeClr val="tx1"/>
              </a:solidFill>
            </a:endParaRPr>
          </a:p>
          <a:p>
            <a:r>
              <a:rPr lang="hr-HR" sz="2400" dirty="0">
                <a:solidFill>
                  <a:schemeClr val="tx1"/>
                </a:solidFill>
              </a:rPr>
              <a:t>Problemi:</a:t>
            </a:r>
          </a:p>
          <a:p>
            <a:pPr lvl="1"/>
            <a:r>
              <a:rPr lang="hr-HR" sz="2000" dirty="0">
                <a:solidFill>
                  <a:schemeClr val="tx1"/>
                </a:solidFill>
              </a:rPr>
              <a:t>Dulje vrijeme treniranja</a:t>
            </a:r>
          </a:p>
          <a:p>
            <a:pPr lvl="1"/>
            <a:r>
              <a:rPr lang="hr-HR" sz="2000" dirty="0">
                <a:solidFill>
                  <a:schemeClr val="tx1"/>
                </a:solidFill>
              </a:rPr>
              <a:t>Problemi kompatibilnosti </a:t>
            </a:r>
            <a:r>
              <a:rPr lang="hr-HR" sz="2000" dirty="0" err="1">
                <a:solidFill>
                  <a:schemeClr val="tx1"/>
                </a:solidFill>
              </a:rPr>
              <a:t>PyTorch</a:t>
            </a:r>
            <a:r>
              <a:rPr lang="hr-HR" sz="2000" dirty="0">
                <a:solidFill>
                  <a:schemeClr val="tx1"/>
                </a:solidFill>
              </a:rPr>
              <a:t>/CUDA okruženja i NVIDIA drivera</a:t>
            </a:r>
          </a:p>
        </p:txBody>
      </p:sp>
    </p:spTree>
    <p:extLst>
      <p:ext uri="{BB962C8B-B14F-4D97-AF65-F5344CB8AC3E}">
        <p14:creationId xmlns:p14="http://schemas.microsoft.com/office/powerpoint/2010/main" val="130676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9CB856E-9D5B-4331-84FF-31D392F1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5" name="Rezervirano mjesto sadržaja 4">
            <a:extLst>
              <a:ext uri="{FF2B5EF4-FFF2-40B4-BE49-F238E27FC236}">
                <a16:creationId xmlns:a16="http://schemas.microsoft.com/office/drawing/2014/main" id="{E8DAA826-AAAE-4522-9203-6EF596AD6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73" y="1216058"/>
            <a:ext cx="10758605" cy="4713401"/>
          </a:xfrm>
        </p:spPr>
      </p:pic>
    </p:spTree>
    <p:extLst>
      <p:ext uri="{BB962C8B-B14F-4D97-AF65-F5344CB8AC3E}">
        <p14:creationId xmlns:p14="http://schemas.microsoft.com/office/powerpoint/2010/main" val="418931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9836082-D048-4E9F-9628-68FE17B04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Daljnji plan rada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0536C48-932C-46E7-80B8-714272667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400" dirty="0">
                <a:solidFill>
                  <a:schemeClr val="tx1"/>
                </a:solidFill>
              </a:rPr>
              <a:t>Analizirati </a:t>
            </a:r>
            <a:r>
              <a:rPr lang="hr-HR" sz="2400" dirty="0" err="1">
                <a:solidFill>
                  <a:schemeClr val="tx1"/>
                </a:solidFill>
              </a:rPr>
              <a:t>spike</a:t>
            </a:r>
            <a:r>
              <a:rPr lang="hr-HR" sz="2400" dirty="0">
                <a:solidFill>
                  <a:schemeClr val="tx1"/>
                </a:solidFill>
              </a:rPr>
              <a:t> aktivnost</a:t>
            </a:r>
          </a:p>
          <a:p>
            <a:r>
              <a:rPr lang="it-IT" sz="2400" dirty="0" err="1">
                <a:solidFill>
                  <a:schemeClr val="tx1"/>
                </a:solidFill>
              </a:rPr>
              <a:t>Evaluirati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modele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na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neuromorphic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 err="1">
                <a:solidFill>
                  <a:schemeClr val="tx1"/>
                </a:solidFill>
              </a:rPr>
              <a:t>datasetima</a:t>
            </a:r>
            <a:endParaRPr lang="hr-HR" sz="2400" dirty="0">
              <a:solidFill>
                <a:schemeClr val="tx1"/>
              </a:solidFill>
            </a:endParaRPr>
          </a:p>
          <a:p>
            <a:r>
              <a:rPr lang="hr-HR" sz="2400" dirty="0">
                <a:solidFill>
                  <a:schemeClr val="tx1"/>
                </a:solidFill>
              </a:rPr>
              <a:t>Analizirati ponašanje </a:t>
            </a:r>
            <a:r>
              <a:rPr lang="hr-HR" sz="2400" dirty="0" err="1">
                <a:solidFill>
                  <a:schemeClr val="tx1"/>
                </a:solidFill>
              </a:rPr>
              <a:t>adaptive</a:t>
            </a:r>
            <a:r>
              <a:rPr lang="hr-HR" sz="2400" dirty="0">
                <a:solidFill>
                  <a:schemeClr val="tx1"/>
                </a:solidFill>
              </a:rPr>
              <a:t> </a:t>
            </a:r>
            <a:r>
              <a:rPr lang="hr-HR" sz="2400" dirty="0" err="1">
                <a:solidFill>
                  <a:schemeClr val="tx1"/>
                </a:solidFill>
              </a:rPr>
              <a:t>surrogate</a:t>
            </a:r>
            <a:r>
              <a:rPr lang="hr-HR" sz="2400" dirty="0">
                <a:solidFill>
                  <a:schemeClr val="tx1"/>
                </a:solidFill>
              </a:rPr>
              <a:t> metoda na event-</a:t>
            </a:r>
            <a:r>
              <a:rPr lang="hr-HR" sz="2400" dirty="0" err="1">
                <a:solidFill>
                  <a:schemeClr val="tx1"/>
                </a:solidFill>
              </a:rPr>
              <a:t>based</a:t>
            </a:r>
            <a:r>
              <a:rPr lang="hr-HR" sz="2400" dirty="0">
                <a:solidFill>
                  <a:schemeClr val="tx1"/>
                </a:solidFill>
              </a:rPr>
              <a:t> podacima</a:t>
            </a:r>
          </a:p>
          <a:p>
            <a:pPr marL="3690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62488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75C444-CF06-48E1-83D4-A25E434F7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EAD56F4-8715-4B8F-A0CE-B7346921E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Provedena je usporedba </a:t>
            </a:r>
            <a:r>
              <a:rPr lang="hr-HR" dirty="0" err="1">
                <a:solidFill>
                  <a:schemeClr val="tx1"/>
                </a:solidFill>
              </a:rPr>
              <a:t>adaptive</a:t>
            </a:r>
            <a:r>
              <a:rPr lang="hr-HR" dirty="0">
                <a:solidFill>
                  <a:schemeClr val="tx1"/>
                </a:solidFill>
              </a:rPr>
              <a:t> i </a:t>
            </a:r>
            <a:r>
              <a:rPr lang="hr-HR" dirty="0" err="1">
                <a:solidFill>
                  <a:schemeClr val="tx1"/>
                </a:solidFill>
              </a:rPr>
              <a:t>fixed</a:t>
            </a:r>
            <a:r>
              <a:rPr lang="hr-HR" dirty="0">
                <a:solidFill>
                  <a:schemeClr val="tx1"/>
                </a:solidFill>
              </a:rPr>
              <a:t> </a:t>
            </a:r>
            <a:r>
              <a:rPr lang="hr-HR" dirty="0" err="1">
                <a:solidFill>
                  <a:schemeClr val="tx1"/>
                </a:solidFill>
              </a:rPr>
              <a:t>surrogate</a:t>
            </a:r>
            <a:r>
              <a:rPr lang="hr-HR" dirty="0">
                <a:solidFill>
                  <a:schemeClr val="tx1"/>
                </a:solidFill>
              </a:rPr>
              <a:t> </a:t>
            </a:r>
            <a:r>
              <a:rPr lang="hr-HR" dirty="0" err="1">
                <a:solidFill>
                  <a:schemeClr val="tx1"/>
                </a:solidFill>
              </a:rPr>
              <a:t>gradient</a:t>
            </a:r>
            <a:r>
              <a:rPr lang="hr-HR" dirty="0">
                <a:solidFill>
                  <a:schemeClr val="tx1"/>
                </a:solidFill>
              </a:rPr>
              <a:t> metoda u SNN modelima</a:t>
            </a:r>
          </a:p>
          <a:p>
            <a:r>
              <a:rPr lang="pl-PL" dirty="0">
                <a:solidFill>
                  <a:schemeClr val="tx1"/>
                </a:solidFill>
              </a:rPr>
              <a:t>AdaLi metoda pokazuje stabilnije učenje i bolje rezultate na većini eksperimenata</a:t>
            </a:r>
          </a:p>
          <a:p>
            <a:r>
              <a:rPr lang="hr-HR" dirty="0">
                <a:solidFill>
                  <a:schemeClr val="tx1"/>
                </a:solidFill>
              </a:rPr>
              <a:t>Razlike su izraženije na složenijim </a:t>
            </a:r>
            <a:r>
              <a:rPr lang="hr-HR" dirty="0" err="1">
                <a:solidFill>
                  <a:schemeClr val="tx1"/>
                </a:solidFill>
              </a:rPr>
              <a:t>datasetima</a:t>
            </a:r>
            <a:r>
              <a:rPr lang="hr-HR" dirty="0">
                <a:solidFill>
                  <a:schemeClr val="tx1"/>
                </a:solidFill>
              </a:rPr>
              <a:t> i dubljim arhitekturama</a:t>
            </a:r>
          </a:p>
          <a:p>
            <a:r>
              <a:rPr lang="hr-HR" dirty="0">
                <a:solidFill>
                  <a:schemeClr val="tx1"/>
                </a:solidFill>
              </a:rPr>
              <a:t>SNN modeli pokazuju potencijal za energetski učinkovito duboko učenje</a:t>
            </a:r>
          </a:p>
        </p:txBody>
      </p:sp>
    </p:spTree>
    <p:extLst>
      <p:ext uri="{BB962C8B-B14F-4D97-AF65-F5344CB8AC3E}">
        <p14:creationId xmlns:p14="http://schemas.microsoft.com/office/powerpoint/2010/main" val="33093128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Škriljevac">
  <a:themeElements>
    <a:clrScheme name="Škriljevac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Škriljevac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Škriljeva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TM04033929[[fn=Škriljevac]]</Template>
  <TotalTime>117</TotalTime>
  <Words>413</Words>
  <Application>Microsoft Office PowerPoint</Application>
  <PresentationFormat>Široki zaslon</PresentationFormat>
  <Paragraphs>68</Paragraphs>
  <Slides>11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11</vt:i4>
      </vt:variant>
    </vt:vector>
  </HeadingPairs>
  <TitlesOfParts>
    <vt:vector size="17" baseType="lpstr">
      <vt:lpstr>Arial</vt:lpstr>
      <vt:lpstr>Calisto MT</vt:lpstr>
      <vt:lpstr>Trebuchet MS</vt:lpstr>
      <vt:lpstr>Wingdings</vt:lpstr>
      <vt:lpstr>Wingdings 2</vt:lpstr>
      <vt:lpstr>Škriljevac</vt:lpstr>
      <vt:lpstr>Adaptivne vs fiksne surrogate gradient metode u SNN-ovima</vt:lpstr>
      <vt:lpstr>Tema i područje istraživanja</vt:lpstr>
      <vt:lpstr>Problem istraživanja</vt:lpstr>
      <vt:lpstr>Istraživačka pitanja i ciljevi</vt:lpstr>
      <vt:lpstr>Podaci</vt:lpstr>
      <vt:lpstr>Pregled literature(PRISMA)</vt:lpstr>
      <vt:lpstr>Metodologija i odabir modela</vt:lpstr>
      <vt:lpstr>Dosadašnji napredak i preliminarni rezultati</vt:lpstr>
      <vt:lpstr>PowerPoint prezentacija</vt:lpstr>
      <vt:lpstr>Daljnji plan rada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Adaptivne vs fiksne surrogate gradient metode u SNN-ovima</dc:title>
  <dc:creator>Antonio HP</dc:creator>
  <cp:lastModifiedBy>Antonio HP</cp:lastModifiedBy>
  <cp:revision>10</cp:revision>
  <dcterms:created xsi:type="dcterms:W3CDTF">2026-05-16T07:39:47Z</dcterms:created>
  <dcterms:modified xsi:type="dcterms:W3CDTF">2026-05-16T09:37:22Z</dcterms:modified>
</cp:coreProperties>
</file>